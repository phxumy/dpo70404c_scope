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2549508fe9427d" /><Relationship Type="http://schemas.openxmlformats.org/officeDocument/2006/relationships/extended-properties" Target="/docProps/app.xml" Id="R3587704610934b02" /><Relationship Type="http://schemas.openxmlformats.org/officeDocument/2006/relationships/officeDocument" Target="/ppt/presentation.xml" Id="Re0e96a72bcca4a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bf382e0cc44e94"/>
  </p:sldMasterIdLst>
  <p:notesMasterIdLst>
    <p:notesMasterId xmlns:r="http://schemas.openxmlformats.org/officeDocument/2006/relationships" r:id="Rdcf6c76f34124404"/>
  </p:notesMasterIdLst>
  <p:sldIdLst>
    <p:sldId xmlns:r="http://schemas.openxmlformats.org/officeDocument/2006/relationships" id="256" r:id="R1da7f105458e470f"/>
    <p:sldId xmlns:r="http://schemas.openxmlformats.org/officeDocument/2006/relationships" id="257" r:id="Ra00eced4dc674590"/>
    <p:sldId xmlns:r="http://schemas.openxmlformats.org/officeDocument/2006/relationships" id="258" r:id="Rf79bb1a5e93e4cd5"/>
    <p:sldId xmlns:r="http://schemas.openxmlformats.org/officeDocument/2006/relationships" id="259" r:id="R4a4958e78d444f11"/>
    <p:sldId xmlns:r="http://schemas.openxmlformats.org/officeDocument/2006/relationships" id="260" r:id="R8530ca4872f0453e"/>
    <p:sldId xmlns:r="http://schemas.openxmlformats.org/officeDocument/2006/relationships" id="261" r:id="Rb8286d168e574318"/>
    <p:sldId xmlns:r="http://schemas.openxmlformats.org/officeDocument/2006/relationships" id="262" r:id="Rcd93eb1f342348f3"/>
    <p:sldId xmlns:r="http://schemas.openxmlformats.org/officeDocument/2006/relationships" id="263" r:id="R543b4978db2b4cee"/>
    <p:sldId xmlns:r="http://schemas.openxmlformats.org/officeDocument/2006/relationships" id="264" r:id="Rbcebd1efaad34e7c"/>
    <p:sldId xmlns:r="http://schemas.openxmlformats.org/officeDocument/2006/relationships" id="265" r:id="R2e9e2c8c418a48ff"/>
    <p:sldId xmlns:r="http://schemas.openxmlformats.org/officeDocument/2006/relationships" id="266" r:id="R2e2bded967c54b38"/>
    <p:sldId xmlns:r="http://schemas.openxmlformats.org/officeDocument/2006/relationships" id="267" r:id="Rbd04dc4c05804b8f"/>
    <p:sldId xmlns:r="http://schemas.openxmlformats.org/officeDocument/2006/relationships" id="268" r:id="R80929faeaf044047"/>
    <p:sldId xmlns:r="http://schemas.openxmlformats.org/officeDocument/2006/relationships" id="269" r:id="Rb0e1675b95da47d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f44465f1d2498e" /><Relationship Type="http://schemas.openxmlformats.org/officeDocument/2006/relationships/slideMaster" Target="/ppt/slideMasters/slideMaster1.xml" Id="R6bbf382e0cc44e94" /><Relationship Type="http://schemas.openxmlformats.org/officeDocument/2006/relationships/notesMaster" Target="/ppt/notesMasters/notesMaster1.xml" Id="Rdcf6c76f34124404" /><Relationship Type="http://schemas.openxmlformats.org/officeDocument/2006/relationships/presProps" Target="/ppt/presProps.xml" Id="R442b189863754aa8" /><Relationship Type="http://schemas.openxmlformats.org/officeDocument/2006/relationships/tableStyles" Target="/ppt/tableStyles.xml" Id="R75a80058426e4899" /><Relationship Type="http://schemas.openxmlformats.org/officeDocument/2006/relationships/slide" Target="/ppt/slides/slide1.xml" Id="R1da7f105458e470f" /><Relationship Type="http://schemas.openxmlformats.org/officeDocument/2006/relationships/slide" Target="/ppt/slides/slide2.xml" Id="Ra00eced4dc674590" /><Relationship Type="http://schemas.openxmlformats.org/officeDocument/2006/relationships/slide" Target="/ppt/slides/slide3.xml" Id="Rf79bb1a5e93e4cd5" /><Relationship Type="http://schemas.openxmlformats.org/officeDocument/2006/relationships/slide" Target="/ppt/slides/slide4.xml" Id="R4a4958e78d444f11" /><Relationship Type="http://schemas.openxmlformats.org/officeDocument/2006/relationships/slide" Target="/ppt/slides/slide5.xml" Id="R8530ca4872f0453e" /><Relationship Type="http://schemas.openxmlformats.org/officeDocument/2006/relationships/slide" Target="/ppt/slides/slide6.xml" Id="Rb8286d168e574318" /><Relationship Type="http://schemas.openxmlformats.org/officeDocument/2006/relationships/slide" Target="/ppt/slides/slide7.xml" Id="Rcd93eb1f342348f3" /><Relationship Type="http://schemas.openxmlformats.org/officeDocument/2006/relationships/slide" Target="/ppt/slides/slide8.xml" Id="R543b4978db2b4cee" /><Relationship Type="http://schemas.openxmlformats.org/officeDocument/2006/relationships/slide" Target="/ppt/slides/slide9.xml" Id="Rbcebd1efaad34e7c" /><Relationship Type="http://schemas.openxmlformats.org/officeDocument/2006/relationships/slide" Target="/ppt/slides/slide10.xml" Id="R2e9e2c8c418a48ff" /><Relationship Type="http://schemas.openxmlformats.org/officeDocument/2006/relationships/slide" Target="/ppt/slides/slide11.xml" Id="R2e2bded967c54b38" /><Relationship Type="http://schemas.openxmlformats.org/officeDocument/2006/relationships/slide" Target="/ppt/slides/slide12.xml" Id="Rbd04dc4c05804b8f" /><Relationship Type="http://schemas.openxmlformats.org/officeDocument/2006/relationships/slide" Target="/ppt/slides/slide13.xml" Id="R80929faeaf044047" /><Relationship Type="http://schemas.openxmlformats.org/officeDocument/2006/relationships/slide" Target="/ppt/slides/slide14.xml" Id="Rb0e1675b95da47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526610ce0b46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5e8bc15d0a4ab2" /><Relationship Type="http://schemas.openxmlformats.org/officeDocument/2006/relationships/notesMaster" Target="/ppt/notesMasters/notesMaster1.xml" Id="R5afc35b6a6774e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a04d94aa3c4a3a" /><Relationship Type="http://schemas.openxmlformats.org/officeDocument/2006/relationships/notesMaster" Target="/ppt/notesMasters/notesMaster1.xml" Id="Rb9b10f0b60fc44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a58989afafe4390" /><Relationship Type="http://schemas.openxmlformats.org/officeDocument/2006/relationships/notesMaster" Target="/ppt/notesMasters/notesMaster1.xml" Id="Rcf3e7f7695cf49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840fe8774de4f33" /><Relationship Type="http://schemas.openxmlformats.org/officeDocument/2006/relationships/notesMaster" Target="/ppt/notesMasters/notesMaster1.xml" Id="R558beb61e37d4f2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9a7889dbcd4548" /><Relationship Type="http://schemas.openxmlformats.org/officeDocument/2006/relationships/notesMaster" Target="/ppt/notesMasters/notesMaster1.xml" Id="R45b2a6ef9dff434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cd7441b74f34beb" /><Relationship Type="http://schemas.openxmlformats.org/officeDocument/2006/relationships/notesMaster" Target="/ppt/notesMasters/notesMaster1.xml" Id="R169c27e7f79649c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512d6ad4ad14bb3" /><Relationship Type="http://schemas.openxmlformats.org/officeDocument/2006/relationships/notesMaster" Target="/ppt/notesMasters/notesMaster1.xml" Id="Re073c559f97240e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bc69bbffd8a4065" /><Relationship Type="http://schemas.openxmlformats.org/officeDocument/2006/relationships/notesMaster" Target="/ppt/notesMasters/notesMaster1.xml" Id="R10e6d278c0174e6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ea836ac9ab94f10" /><Relationship Type="http://schemas.openxmlformats.org/officeDocument/2006/relationships/notesMaster" Target="/ppt/notesMasters/notesMaster1.xml" Id="R5866f44a279c435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83f1bb60f7a4d1f" /><Relationship Type="http://schemas.openxmlformats.org/officeDocument/2006/relationships/notesMaster" Target="/ppt/notesMasters/notesMaster1.xml" Id="R1dcabc74eb3549a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cdbbd7403cc4ddb" /><Relationship Type="http://schemas.openxmlformats.org/officeDocument/2006/relationships/notesMaster" Target="/ppt/notesMasters/notesMaster1.xml" Id="R36d2908a6e724ba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76a341be34047dd" /><Relationship Type="http://schemas.openxmlformats.org/officeDocument/2006/relationships/notesMaster" Target="/ppt/notesMasters/notesMaster1.xml" Id="R5c888b09578a4b4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a9f1b59bea14e4e" /><Relationship Type="http://schemas.openxmlformats.org/officeDocument/2006/relationships/notesMaster" Target="/ppt/notesMasters/notesMaster1.xml" Id="Rca4f4bd6b251446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9963afa1a264bec" /><Relationship Type="http://schemas.openxmlformats.org/officeDocument/2006/relationships/notesMaster" Target="/ppt/notesMasters/notesMaster1.xml" Id="R0de4524086ad41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6e45cadfa440e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c7b03a4bd144b7" /><Relationship Type="http://schemas.openxmlformats.org/officeDocument/2006/relationships/slideLayout" Target="/ppt/slideLayouts/slideLayout1.xml" Id="Re8000082266f4d4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000082266f4d4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d40ed30a5e4670" /><Relationship Type="http://schemas.openxmlformats.org/officeDocument/2006/relationships/notesSlide" Target="/ppt/notesSlides/notesSlide1.xml" Id="R593388d0ffec49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d03f7c48444053" /><Relationship Type="http://schemas.openxmlformats.org/officeDocument/2006/relationships/notesSlide" Target="/ppt/notesSlides/notesSlide2.xml" Id="R48c87f5880de4f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2855b4379c43c4" /><Relationship Type="http://schemas.openxmlformats.org/officeDocument/2006/relationships/notesSlide" Target="/ppt/notesSlides/notesSlide3.xml" Id="R36e73a88aad440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09dc6820664d89" /><Relationship Type="http://schemas.openxmlformats.org/officeDocument/2006/relationships/notesSlide" Target="/ppt/notesSlides/notesSlide4.xml" Id="R29d383db0ecd494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70c38956434678" /><Relationship Type="http://schemas.openxmlformats.org/officeDocument/2006/relationships/notesSlide" Target="/ppt/notesSlides/notesSlide5.xml" Id="Rde8cb05f2dc1490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2a3caf58eb4dfe" /><Relationship Type="http://schemas.openxmlformats.org/officeDocument/2006/relationships/image" Target="/ppt/media/image.png" Id="R48ae76e3c337492a" /><Relationship Type="http://schemas.openxmlformats.org/officeDocument/2006/relationships/notesSlide" Target="/ppt/notesSlides/notesSlide6.xml" Id="Rf2bc61cdf73d4e6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c49b8035164371" /><Relationship Type="http://schemas.openxmlformats.org/officeDocument/2006/relationships/image" Target="/ppt/media/image2.png" Id="R348cb580981d4fd6" /><Relationship Type="http://schemas.openxmlformats.org/officeDocument/2006/relationships/notesSlide" Target="/ppt/notesSlides/notesSlide7.xml" Id="R3822b05105de447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7f7286fcd345ba" /><Relationship Type="http://schemas.openxmlformats.org/officeDocument/2006/relationships/image" Target="/ppt/media/image3.png" Id="Ra4c5f9d4626248c8" /><Relationship Type="http://schemas.openxmlformats.org/officeDocument/2006/relationships/notesSlide" Target="/ppt/notesSlides/notesSlide8.xml" Id="R927927ed5b3e4c1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3ccda062cb4830" /><Relationship Type="http://schemas.openxmlformats.org/officeDocument/2006/relationships/image" Target="/ppt/media/image4.png" Id="R862f4556b9cf4983" /><Relationship Type="http://schemas.openxmlformats.org/officeDocument/2006/relationships/notesSlide" Target="/ppt/notesSlides/notesSlide9.xml" Id="R998866062720487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ad107ff7bf4fee" /><Relationship Type="http://schemas.openxmlformats.org/officeDocument/2006/relationships/image" Target="/ppt/media/image5.png" Id="R89da0e15f1cf4036" /><Relationship Type="http://schemas.openxmlformats.org/officeDocument/2006/relationships/notesSlide" Target="/ppt/notesSlides/notesSlide10.xml" Id="R6273d24fcd69450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8678e7c0384384" /><Relationship Type="http://schemas.openxmlformats.org/officeDocument/2006/relationships/image" Target="/ppt/media/image6.png" Id="R15b0680bc53f4762" /><Relationship Type="http://schemas.openxmlformats.org/officeDocument/2006/relationships/notesSlide" Target="/ppt/notesSlides/notesSlide11.xml" Id="Re0030acaaed2444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2d7d6325cf48bd" /><Relationship Type="http://schemas.openxmlformats.org/officeDocument/2006/relationships/image" Target="/ppt/media/image7.png" Id="Rac3fed7d2ac04972" /><Relationship Type="http://schemas.openxmlformats.org/officeDocument/2006/relationships/notesSlide" Target="/ppt/notesSlides/notesSlide12.xml" Id="Re0e39474401b4c7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22d5a063cd4260" /><Relationship Type="http://schemas.openxmlformats.org/officeDocument/2006/relationships/image" Target="/ppt/media/image8.png" Id="Rfe11c310b9d74871" /><Relationship Type="http://schemas.openxmlformats.org/officeDocument/2006/relationships/notesSlide" Target="/ppt/notesSlides/notesSlide13.xml" Id="Rf77540515af14df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1dfdce6183443d" /><Relationship Type="http://schemas.openxmlformats.org/officeDocument/2006/relationships/notesSlide" Target="/ppt/notesSlides/notesSlide14.xml" Id="Rb4e199889a5b47c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D033412-A95D-4888-B3A4-0BB70907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0F172A"/>
                </a:solidFill>
              </a:defRPr>
            </a:pPr>
            <a:r>
              <a:rPr sz="3300" b="1">
                <a:solidFill>
                  <a:srgbClr val="0F172A"/>
                </a:solidFill>
              </a:rPr>
              <a:t>AWG 纵场输出精度验证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98AF924-3BEF-475F-96FB-A2AF5439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时间精度、幅度精度与噪声来源的初步结论（2026-08）</a:t>
            </a:r>
          </a:p>
        </p:txBody>
      </p:sp>
    </p:spTree>
    <p:extLst>
      <p:ext uri="{BB962C8B-B14F-4D97-AF65-F5344CB8AC3E}">
        <p14:creationId xmlns:p14="http://schemas.microsoft.com/office/powerpoint/2010/main" val="14153186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3D692F1-CF34-4167-B995-171EC60D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测量对象与实验方法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5D21AE4-9C39-4820-940D-54AA865E5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4381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marL="18" indent="-10">
              <a:lnSpc>
                <a:spcPct val="112000"/>
              </a:lnSpc>
              <a:spcAft>
                <a:spcPts val="8"/>
              </a:spcAft>
              <a:buNone/>
              <a:defRPr sz="1200">
                <a:solidFill>
                  <a:srgbClr val="1E293B"/>
                </a:solidFill>
              </a:defRPr>
            </a:pPr>
            <a:r>
              <a:rPr sz="1200">
                <a:solidFill>
                  <a:srgbClr val="1E293B"/>
                </a:solidFill>
              </a:rPr>
              <a:t>测量对象：超导比特 CZ 门的 q9 纵向场（Z 线）模拟输出。</a:t>
            </a:r>
          </a:p>
          <a:p xmlns:a="http://schemas.openxmlformats.org/drawingml/2006/main">
            <a:pPr marL="18" indent="-10">
              <a:lnSpc>
                <a:spcPct val="112000"/>
              </a:lnSpc>
              <a:spcAft>
                <a:spcPts val="8"/>
              </a:spcAft>
              <a:buNone/>
              <a:defRPr sz="1200">
                <a:solidFill>
                  <a:srgbClr val="1E293B"/>
                </a:solidFill>
              </a:defRPr>
            </a:pPr>
            <a:r>
              <a:rPr sz="1200">
                <a:solidFill>
                  <a:srgbClr val="1E293B"/>
                </a:solidFill>
              </a:rPr>
              <a:t>AWG 采样率 2 GHz（0.5 ns/点），示波器 25 GHz（40 ps/点）。</a:t>
            </a:r>
          </a:p>
          <a:p xmlns:a="http://schemas.openxmlformats.org/drawingml/2006/main">
            <a:pPr marL="18" indent="-10">
              <a:lnSpc>
                <a:spcPct val="112000"/>
              </a:lnSpc>
              <a:spcAft>
                <a:spcPts val="8"/>
              </a:spcAft>
              <a:buNone/>
              <a:defRPr sz="1200">
                <a:solidFill>
                  <a:srgbClr val="1E293B"/>
                </a:solidFill>
              </a:defRPr>
            </a:pPr>
            <a:r>
              <a:rPr sz="1200">
                <a:solidFill>
                  <a:srgbClr val="1E293B"/>
                </a:solidFill>
              </a:rPr>
              <a:t>AUX 是固定触发参考，所有波形都以 AUX 上升沿作为共同时间零点。</a:t>
            </a:r>
          </a:p>
          <a:p xmlns:a="http://schemas.openxmlformats.org/drawingml/2006/main">
            <a:pPr marL="18" indent="-10">
              <a:lnSpc>
                <a:spcPct val="112000"/>
              </a:lnSpc>
              <a:spcAft>
                <a:spcPts val="8"/>
              </a:spcAft>
              <a:buNone/>
              <a:defRPr sz="1200">
                <a:solidFill>
                  <a:srgbClr val="1E293B"/>
                </a:solidFill>
              </a:defRPr>
            </a:pPr>
            <a:r>
              <a:rPr sz="1200">
                <a:solidFill>
                  <a:srgbClr val="1E293B"/>
                </a:solidFill>
              </a:rPr>
              <a:t>关心的是参数到真实输出的映射是否稳定、可重复、可精确控制，而不是波形是否理想。</a:t>
            </a:r>
          </a:p>
          <a:p xmlns:a="http://schemas.openxmlformats.org/drawingml/2006/main">
            <a:pPr marL="18" indent="-10">
              <a:lnSpc>
                <a:spcPct val="112000"/>
              </a:lnSpc>
              <a:spcAft>
                <a:spcPts val="8"/>
              </a:spcAft>
              <a:buNone/>
              <a:defRPr sz="1200">
                <a:solidFill>
                  <a:srgbClr val="1E293B"/>
                </a:solidFill>
              </a:defRPr>
            </a:pPr>
            <a:r>
              <a:rPr sz="1200">
                <a:solidFill>
                  <a:srgbClr val="1E293B"/>
                </a:solidFill>
              </a:rPr>
              <a:t>每个实验点都是独立完整的 M=20 序列，多个 shot 用于平均和统计。</a:t>
            </a:r>
          </a:p>
        </p:txBody>
      </p:sp>
    </p:spTree>
    <p:extLst>
      <p:ext uri="{BB962C8B-B14F-4D97-AF65-F5344CB8AC3E}">
        <p14:creationId xmlns:p14="http://schemas.microsoft.com/office/powerpoint/2010/main" val="13379182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B86839E-3F10-4E35-812A-184F37B45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怎么算出真实时移和幅度变化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C6886BC-B412-4D5F-A729-58E679C7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4381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marL="18" indent="-10">
              <a:lnSpc>
                <a:spcPct val="112000"/>
              </a:lnSpc>
              <a:spcAft>
                <a:spcPts val="8"/>
              </a:spcAft>
              <a:buNone/>
              <a:defRPr sz="1200">
                <a:solidFill>
                  <a:srgbClr val="1E293B"/>
                </a:solidFill>
              </a:defRPr>
            </a:pPr>
            <a:r>
              <a:rPr sz="1200">
                <a:solidFill>
                  <a:srgbClr val="1E293B"/>
                </a:solidFill>
              </a:rPr>
              <a:t>取 0 位移点的平均波形 f(t) 作为固定参考模板。</a:t>
            </a:r>
          </a:p>
          <a:p xmlns:a="http://schemas.openxmlformats.org/drawingml/2006/main">
            <a:pPr marL="18" indent="-10">
              <a:lnSpc>
                <a:spcPct val="112000"/>
              </a:lnSpc>
              <a:spcAft>
                <a:spcPts val="8"/>
              </a:spcAft>
              <a:buNone/>
              <a:defRPr sz="1200">
                <a:solidFill>
                  <a:srgbClr val="1E293B"/>
                </a:solidFill>
              </a:defRPr>
            </a:pPr>
            <a:r>
              <a:rPr sz="1200">
                <a:solidFill>
                  <a:srgbClr val="1E293B"/>
                </a:solidFill>
              </a:rPr>
              <a:t>对每个点的平均波形 y(t) 做最小二乘拟合：</a:t>
            </a:r>
          </a:p>
          <a:p xmlns:a="http://schemas.openxmlformats.org/drawingml/2006/main">
            <a:pPr marL="18" indent="-10">
              <a:lnSpc>
                <a:spcPct val="112000"/>
              </a:lnSpc>
              <a:spcAft>
                <a:spcPts val="8"/>
              </a:spcAft>
              <a:buNone/>
              <a:defRPr sz="1200">
                <a:solidFill>
                  <a:srgbClr val="1E293B"/>
                </a:solidFill>
              </a:defRPr>
            </a:pPr>
            <a:r>
              <a:rPr sz="1200">
                <a:solidFill>
                  <a:srgbClr val="1E293B"/>
                </a:solidFill>
              </a:rPr>
              <a:t>y − f ≈ −Δt·f′(t) + g·(f − f̄) + c</a:t>
            </a:r>
          </a:p>
          <a:p xmlns:a="http://schemas.openxmlformats.org/drawingml/2006/main">
            <a:pPr marL="18" indent="-10">
              <a:lnSpc>
                <a:spcPct val="112000"/>
              </a:lnSpc>
              <a:spcAft>
                <a:spcPts val="8"/>
              </a:spcAft>
              <a:buNone/>
              <a:defRPr sz="1200">
                <a:solidFill>
                  <a:srgbClr val="1E293B"/>
                </a:solidFill>
              </a:defRPr>
            </a:pPr>
            <a:r>
              <a:rPr sz="1200">
                <a:solidFill>
                  <a:srgbClr val="1E293B"/>
                </a:solidFill>
              </a:rPr>
              <a:t>Δt：真实移动的时间（ps）；g：相对参考的幅度增益；c：直流偏置。</a:t>
            </a:r>
          </a:p>
          <a:p xmlns:a="http://schemas.openxmlformats.org/drawingml/2006/main">
            <a:pPr marL="18" indent="-10">
              <a:lnSpc>
                <a:spcPct val="112000"/>
              </a:lnSpc>
              <a:spcAft>
                <a:spcPts val="8"/>
              </a:spcAft>
              <a:buNone/>
              <a:defRPr sz="1200">
                <a:solidFill>
                  <a:srgbClr val="1E293B"/>
                </a:solidFill>
              </a:defRPr>
            </a:pPr>
            <a:r>
              <a:rPr sz="1200">
                <a:solidFill>
                  <a:srgbClr val="1E293B"/>
                </a:solidFill>
              </a:rPr>
              <a:t>Δt 和 g 在同一次线性拟合里同时解出，避免时间和幅度互相串扰。</a:t>
            </a:r>
          </a:p>
          <a:p xmlns:a="http://schemas.openxmlformats.org/drawingml/2006/main">
            <a:pPr marL="18" indent="-10">
              <a:lnSpc>
                <a:spcPct val="112000"/>
              </a:lnSpc>
              <a:spcAft>
                <a:spcPts val="8"/>
              </a:spcAft>
              <a:buNone/>
              <a:defRPr sz="1200">
                <a:solidFill>
                  <a:srgbClr val="1E293B"/>
                </a:solidFill>
              </a:defRPr>
            </a:pPr>
            <a:r>
              <a:rPr sz="1200">
                <a:solidFill>
                  <a:srgbClr val="1E293B"/>
                </a:solidFill>
              </a:rPr>
              <a:t>不移动波形、不做互相关。误差棒用 block-bootstrap：shot 分块重抽样、重拟合 2000 次，取 2.5%–97.5% 作为 95% 置信区间。</a:t>
            </a:r>
          </a:p>
        </p:txBody>
      </p:sp>
    </p:spTree>
    <p:extLst>
      <p:ext uri="{BB962C8B-B14F-4D97-AF65-F5344CB8AC3E}">
        <p14:creationId xmlns:p14="http://schemas.microsoft.com/office/powerpoint/2010/main" val="21386730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E00AFDC-73B9-43B8-8BBB-367E46DFA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最小二乘拟合怎么解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9B7798D-1A59-474E-ADB8-8C36C8689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4381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marL="18" indent="-10">
              <a:lnSpc>
                <a:spcPct val="112000"/>
              </a:lnSpc>
              <a:spcAft>
                <a:spcPts val="8"/>
              </a:spcAft>
              <a:buNone/>
              <a:defRPr sz="1200">
                <a:solidFill>
                  <a:srgbClr val="1E293B"/>
                </a:solidFill>
              </a:defRPr>
            </a:pPr>
            <a:r>
              <a:rPr sz="1200">
                <a:solidFill>
                  <a:srgbClr val="1E293B"/>
                </a:solidFill>
              </a:rPr>
              <a:t>对每个点：先算平均波形 y(t)，再算差值 d(t)=y(t)−f(t)。</a:t>
            </a:r>
          </a:p>
          <a:p xmlns:a="http://schemas.openxmlformats.org/drawingml/2006/main">
            <a:pPr marL="18" indent="-10">
              <a:lnSpc>
                <a:spcPct val="112000"/>
              </a:lnSpc>
              <a:spcAft>
                <a:spcPts val="8"/>
              </a:spcAft>
              <a:buNone/>
              <a:defRPr sz="1200">
                <a:solidFill>
                  <a:srgbClr val="1E293B"/>
                </a:solidFill>
              </a:defRPr>
            </a:pPr>
            <a:r>
              <a:rPr sz="1200">
                <a:solidFill>
                  <a:srgbClr val="1E293B"/>
                </a:solidFill>
              </a:rPr>
              <a:t>三个基：−f′(t) 对应时间移动 Δt；f(t)−f̄ 对应幅度增益 g；常数 1 对应直流偏置 c。</a:t>
            </a:r>
          </a:p>
          <a:p xmlns:a="http://schemas.openxmlformats.org/drawingml/2006/main">
            <a:pPr marL="18" indent="-10">
              <a:lnSpc>
                <a:spcPct val="112000"/>
              </a:lnSpc>
              <a:spcAft>
                <a:spcPts val="8"/>
              </a:spcAft>
              <a:buNone/>
              <a:defRPr sz="1200">
                <a:solidFill>
                  <a:srgbClr val="1E293B"/>
                </a:solidFill>
              </a:defRPr>
            </a:pPr>
            <a:r>
              <a:rPr sz="1200">
                <a:solidFill>
                  <a:srgbClr val="1E293B"/>
                </a:solidFill>
              </a:rPr>
              <a:t>写成矩阵 D≈X·β，其中 β=[Δt, g, c]。</a:t>
            </a:r>
          </a:p>
          <a:p xmlns:a="http://schemas.openxmlformats.org/drawingml/2006/main">
            <a:pPr marL="18" indent="-10">
              <a:lnSpc>
                <a:spcPct val="112000"/>
              </a:lnSpc>
              <a:spcAft>
                <a:spcPts val="8"/>
              </a:spcAft>
              <a:buNone/>
              <a:defRPr sz="1200">
                <a:solidFill>
                  <a:srgbClr val="1E293B"/>
                </a:solidFill>
              </a:defRPr>
            </a:pPr>
            <a:r>
              <a:rPr sz="1200">
                <a:solidFill>
                  <a:srgbClr val="1E293B"/>
                </a:solidFill>
              </a:rPr>
              <a:t>最小二乘解：β=(XᵀX)⁻¹XᵀD，代码里用奇异值分解求稳。</a:t>
            </a:r>
          </a:p>
          <a:p xmlns:a="http://schemas.openxmlformats.org/drawingml/2006/main">
            <a:pPr marL="18" indent="-10">
              <a:lnSpc>
                <a:spcPct val="112000"/>
              </a:lnSpc>
              <a:spcAft>
                <a:spcPts val="8"/>
              </a:spcAft>
              <a:buNone/>
              <a:defRPr sz="1200">
                <a:solidFill>
                  <a:srgbClr val="1E293B"/>
                </a:solidFill>
              </a:defRPr>
            </a:pPr>
            <a:r>
              <a:rPr sz="1200">
                <a:solidFill>
                  <a:srgbClr val="1E293B"/>
                </a:solidFill>
              </a:rPr>
              <a:t>一次求解同时得到 Δt、g、c，避免互相串扰。</a:t>
            </a:r>
          </a:p>
        </p:txBody>
      </p:sp>
    </p:spTree>
    <p:extLst>
      <p:ext uri="{BB962C8B-B14F-4D97-AF65-F5344CB8AC3E}">
        <p14:creationId xmlns:p14="http://schemas.microsoft.com/office/powerpoint/2010/main" val="13456828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6E442E3-14C1-4F20-A2BF-285A700F6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g 和 c 分别是什么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7F08ABF-6038-4EA3-B63F-2BFCC5F8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4381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marL="18" indent="-10">
              <a:lnSpc>
                <a:spcPct val="112000"/>
              </a:lnSpc>
              <a:spcAft>
                <a:spcPts val="8"/>
              </a:spcAft>
              <a:buNone/>
              <a:defRPr sz="1200">
                <a:solidFill>
                  <a:srgbClr val="1E293B"/>
                </a:solidFill>
              </a:defRPr>
            </a:pPr>
            <a:r>
              <a:rPr sz="1200">
                <a:solidFill>
                  <a:srgbClr val="1E293B"/>
                </a:solidFill>
              </a:rPr>
              <a:t>c（直流偏置）：整条波形整体上下平移多少伏，主要来自基线漂移。</a:t>
            </a:r>
          </a:p>
          <a:p xmlns:a="http://schemas.openxmlformats.org/drawingml/2006/main">
            <a:pPr marL="18" indent="-10">
              <a:lnSpc>
                <a:spcPct val="112000"/>
              </a:lnSpc>
              <a:spcAft>
                <a:spcPts val="8"/>
              </a:spcAft>
              <a:buNone/>
              <a:defRPr sz="1200">
                <a:solidFill>
                  <a:srgbClr val="1E293B"/>
                </a:solidFill>
              </a:defRPr>
            </a:pPr>
            <a:r>
              <a:rPr sz="1200">
                <a:solidFill>
                  <a:srgbClr val="1E293B"/>
                </a:solidFill>
              </a:rPr>
              <a:t>g（相对幅度增益）：相对参考波形，脉冲形状竖直放大/缩小的比例，无量纲。</a:t>
            </a:r>
          </a:p>
          <a:p xmlns:a="http://schemas.openxmlformats.org/drawingml/2006/main">
            <a:pPr marL="18" indent="-10">
              <a:lnSpc>
                <a:spcPct val="112000"/>
              </a:lnSpc>
              <a:spcAft>
                <a:spcPts val="8"/>
              </a:spcAft>
              <a:buNone/>
              <a:defRPr sz="1200">
                <a:solidFill>
                  <a:srgbClr val="1E293B"/>
                </a:solidFill>
              </a:defRPr>
            </a:pPr>
            <a:r>
              <a:rPr sz="1200">
                <a:solidFill>
                  <a:srgbClr val="1E293B"/>
                </a:solidFill>
              </a:rPr>
              <a:t>g=0 表示和参考一样；g=+0.024 表示放大约 2.4%。</a:t>
            </a:r>
          </a:p>
          <a:p xmlns:a="http://schemas.openxmlformats.org/drawingml/2006/main">
            <a:pPr marL="18" indent="-10">
              <a:lnSpc>
                <a:spcPct val="112000"/>
              </a:lnSpc>
              <a:spcAft>
                <a:spcPts val="8"/>
              </a:spcAft>
              <a:buNone/>
              <a:defRPr sz="1200">
                <a:solidFill>
                  <a:srgbClr val="1E293B"/>
                </a:solidFill>
              </a:defRPr>
            </a:pPr>
            <a:r>
              <a:rPr sz="1200">
                <a:solidFill>
                  <a:srgbClr val="1E293B"/>
                </a:solidFill>
              </a:rPr>
              <a:t>g 对应实验里的 q0ampback：每变 1 个单位，幅度相对变化约 2.4 个 g。</a:t>
            </a:r>
          </a:p>
          <a:p xmlns:a="http://schemas.openxmlformats.org/drawingml/2006/main">
            <a:pPr marL="18" indent="-10">
              <a:lnSpc>
                <a:spcPct val="112000"/>
              </a:lnSpc>
              <a:spcAft>
                <a:spcPts val="8"/>
              </a:spcAft>
              <a:buNone/>
              <a:defRPr sz="1200">
                <a:solidFill>
                  <a:srgbClr val="1E293B"/>
                </a:solidFill>
              </a:defRPr>
            </a:pPr>
            <a:r>
              <a:rPr sz="1200">
                <a:solidFill>
                  <a:srgbClr val="1E293B"/>
                </a:solidFill>
              </a:rPr>
              <a:t>例：参考峰峰约 86 mV，g=+0.0024 对应峰峰变化约 0.21 mV。</a:t>
            </a:r>
          </a:p>
        </p:txBody>
      </p:sp>
    </p:spTree>
    <p:extLst>
      <p:ext uri="{BB962C8B-B14F-4D97-AF65-F5344CB8AC3E}">
        <p14:creationId xmlns:p14="http://schemas.microsoft.com/office/powerpoint/2010/main" val="18383258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2ADEE12-1D8A-4C4A-8A26-0DC7C85E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触发相位直方图说明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96A2FAF-73C9-4DE3-9C47-8DFBF0D69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4191000" cy="495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marL="18" indent="-10">
              <a:lnSpc>
                <a:spcPct val="112000"/>
              </a:lnSpc>
              <a:spcAft>
                <a:spcPts val="8"/>
              </a:spcAft>
              <a:buNone/>
              <a:defRPr sz="1200">
                <a:solidFill>
                  <a:srgbClr val="1E293B"/>
                </a:solidFill>
              </a:defRPr>
            </a:pPr>
            <a:r>
              <a:rPr sz="1200">
                <a:solidFill>
                  <a:srgbClr val="1E293B"/>
                </a:solidFill>
              </a:rPr>
              <a:t>每帧的真实时间 = 触发瞬间 + XZERO + 40 ps × 采样点序号。</a:t>
            </a:r>
          </a:p>
          <a:p xmlns:a="http://schemas.openxmlformats.org/drawingml/2006/main">
            <a:pPr marL="18" indent="-10">
              <a:lnSpc>
                <a:spcPct val="112000"/>
              </a:lnSpc>
              <a:spcAft>
                <a:spcPts val="8"/>
              </a:spcAft>
              <a:buNone/>
              <a:defRPr sz="1200">
                <a:solidFill>
                  <a:srgbClr val="1E293B"/>
                </a:solidFill>
              </a:defRPr>
            </a:pPr>
            <a:r>
              <a:rPr sz="1200">
                <a:solidFill>
                  <a:srgbClr val="1E293B"/>
                </a:solidFill>
              </a:rPr>
              <a:t>XZERO 是真实触发瞬间到最近采样点之间小于 40 ps 的偏移。</a:t>
            </a:r>
          </a:p>
          <a:p xmlns:a="http://schemas.openxmlformats.org/drawingml/2006/main">
            <a:pPr marL="18" indent="-10">
              <a:lnSpc>
                <a:spcPct val="112000"/>
              </a:lnSpc>
              <a:spcAft>
                <a:spcPts val="8"/>
              </a:spcAft>
              <a:buNone/>
              <a:defRPr sz="1200">
                <a:solidFill>
                  <a:srgbClr val="1E293B"/>
                </a:solidFill>
              </a:defRPr>
            </a:pPr>
            <a:r>
              <a:rPr sz="1200">
                <a:solidFill>
                  <a:srgbClr val="1E293B"/>
                </a:solidFill>
              </a:rPr>
              <a:t>这张图把每一帧的 XZERO 按 40 ps 取余后统计分布。</a:t>
            </a:r>
          </a:p>
          <a:p xmlns:a="http://schemas.openxmlformats.org/drawingml/2006/main">
            <a:pPr marL="18" indent="-10">
              <a:lnSpc>
                <a:spcPct val="112000"/>
              </a:lnSpc>
              <a:spcAft>
                <a:spcPts val="8"/>
              </a:spcAft>
              <a:buNone/>
              <a:defRPr sz="1200">
                <a:solidFill>
                  <a:srgbClr val="1E293B"/>
                </a:solidFill>
              </a:defRPr>
            </a:pPr>
            <a:r>
              <a:rPr sz="1200">
                <a:solidFill>
                  <a:srgbClr val="1E293B"/>
                </a:solidFill>
              </a:rPr>
              <a:t>分布越均匀，说明触发相位覆盖了所有亚采样位置，为亚采样时间分辨提供条件。</a:t>
            </a:r>
          </a:p>
          <a:p xmlns:a="http://schemas.openxmlformats.org/drawingml/2006/main">
            <a:pPr marL="18" indent="-10">
              <a:lnSpc>
                <a:spcPct val="112000"/>
              </a:lnSpc>
              <a:spcAft>
                <a:spcPts val="8"/>
              </a:spcAft>
              <a:buNone/>
              <a:defRPr sz="1200">
                <a:solidFill>
                  <a:srgbClr val="1E293B"/>
                </a:solidFill>
              </a:defRPr>
            </a:pPr>
            <a:r>
              <a:rPr sz="1200">
                <a:solidFill>
                  <a:srgbClr val="1E293B"/>
                </a:solidFill>
              </a:rPr>
              <a:t>本图来自 s1000_b 的 attempt_003。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ae76e3c337492a"/>
          <a:stretch xmlns:a="http://schemas.openxmlformats.org/drawingml/2006/main"/>
        </p:blipFill>
        <p:spPr>
          <a:xfrm xmlns:a="http://schemas.openxmlformats.org/drawingml/2006/main">
            <a:off x="5143500" y="1607344"/>
            <a:ext cx="6477000" cy="364331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8836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EF666D3-D212-41F6-881D-5B96BAEFB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时间粗扫：50 ps 可分辨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ADFBE25-79EB-4863-80B9-39A24EA0A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4381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marL="18" indent="-10">
              <a:lnSpc>
                <a:spcPct val="112000"/>
              </a:lnSpc>
              <a:spcAft>
                <a:spcPts val="8"/>
              </a:spcAft>
              <a:buNone/>
              <a:defRPr sz="1200">
                <a:solidFill>
                  <a:srgbClr val="1E293B"/>
                </a:solidFill>
              </a:defRPr>
            </a:pPr>
            <a:r>
              <a:rPr sz="1200">
                <a:solidFill>
                  <a:srgbClr val="1E293B"/>
                </a:solidFill>
              </a:rPr>
              <a:t>扫描 ±50 ps、±10 ps（相对 0.25 ns 中心），每点 20 发。</a:t>
            </a:r>
          </a:p>
          <a:p xmlns:a="http://schemas.openxmlformats.org/drawingml/2006/main">
            <a:pPr marL="18" indent="-10">
              <a:lnSpc>
                <a:spcPct val="112000"/>
              </a:lnSpc>
              <a:spcAft>
                <a:spcPts val="8"/>
              </a:spcAft>
              <a:buNone/>
              <a:defRPr sz="1200">
                <a:solidFill>
                  <a:srgbClr val="1E293B"/>
                </a:solidFill>
              </a:defRPr>
            </a:pPr>
            <a:r>
              <a:rPr sz="1200">
                <a:solidFill>
                  <a:srgbClr val="1E293B"/>
                </a:solidFill>
              </a:rPr>
              <a:t>左下是实测位移对命令位移：50 ps 明显偏出 0，10 ps 落在噪声里。</a:t>
            </a:r>
          </a:p>
          <a:p xmlns:a="http://schemas.openxmlformats.org/drawingml/2006/main">
            <a:pPr marL="18" indent="-10">
              <a:lnSpc>
                <a:spcPct val="112000"/>
              </a:lnSpc>
              <a:spcAft>
                <a:spcPts val="8"/>
              </a:spcAft>
              <a:buNone/>
              <a:defRPr sz="1200">
                <a:solidFill>
                  <a:srgbClr val="1E293B"/>
                </a:solidFill>
              </a:defRPr>
            </a:pPr>
            <a:r>
              <a:rPr sz="1200">
                <a:solidFill>
                  <a:srgbClr val="1E293B"/>
                </a:solidFill>
              </a:rPr>
              <a:t>斜率约 1.15，方向正确；单发时间抖动约 50 ps。</a:t>
            </a:r>
          </a:p>
          <a:p xmlns:a="http://schemas.openxmlformats.org/drawingml/2006/main">
            <a:pPr marL="18" indent="-10">
              <a:lnSpc>
                <a:spcPct val="112000"/>
              </a:lnSpc>
              <a:spcAft>
                <a:spcPts val="8"/>
              </a:spcAft>
              <a:buNone/>
              <a:defRPr sz="1200">
                <a:solidFill>
                  <a:srgbClr val="1E293B"/>
                </a:solidFill>
              </a:defRPr>
            </a:pPr>
            <a:r>
              <a:rPr sz="1200">
                <a:solidFill>
                  <a:srgbClr val="1E293B"/>
                </a:solidFill>
              </a:rPr>
              <a:t>说明大台阶可分辨，小台阶被单发噪声淹没。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8cb580981d4fd6"/>
          <a:stretch xmlns:a="http://schemas.openxmlformats.org/drawingml/2006/main"/>
        </p:blipFill>
        <p:spPr>
          <a:xfrm xmlns:a="http://schemas.openxmlformats.org/drawingml/2006/main">
            <a:off x="5334000" y="1538654"/>
            <a:ext cx="6286500" cy="435219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3702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565A3B9-620E-476D-BECD-2AEE0B6F0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时间细扫：1 ps、5 ps 不可分辨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AF7910F-16CA-4B32-9C84-D64FD5CBE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4381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marL="18" indent="-10">
              <a:lnSpc>
                <a:spcPct val="112000"/>
              </a:lnSpc>
              <a:spcAft>
                <a:spcPts val="8"/>
              </a:spcAft>
              <a:buNone/>
              <a:defRPr sz="1200">
                <a:solidFill>
                  <a:srgbClr val="1E293B"/>
                </a:solidFill>
              </a:defRPr>
            </a:pPr>
            <a:r>
              <a:rPr sz="1200">
                <a:solidFill>
                  <a:srgbClr val="1E293B"/>
                </a:solidFill>
              </a:rPr>
              <a:t>扫描 ±5 ps、±1 ps，每点 50 发。</a:t>
            </a:r>
          </a:p>
          <a:p xmlns:a="http://schemas.openxmlformats.org/drawingml/2006/main">
            <a:pPr marL="18" indent="-10">
              <a:lnSpc>
                <a:spcPct val="112000"/>
              </a:lnSpc>
              <a:spcAft>
                <a:spcPts val="8"/>
              </a:spcAft>
              <a:buNone/>
              <a:defRPr sz="1200">
                <a:solidFill>
                  <a:srgbClr val="1E293B"/>
                </a:solidFill>
              </a:defRPr>
            </a:pPr>
            <a:r>
              <a:rPr sz="1200">
                <a:solidFill>
                  <a:srgbClr val="1E293B"/>
                </a:solidFill>
              </a:rPr>
              <a:t>点的均值没有跟着命令走，有的正负号都反了，拟合斜率甚至为负。</a:t>
            </a:r>
          </a:p>
          <a:p xmlns:a="http://schemas.openxmlformats.org/drawingml/2006/main">
            <a:pPr marL="18" indent="-10">
              <a:lnSpc>
                <a:spcPct val="112000"/>
              </a:lnSpc>
              <a:spcAft>
                <a:spcPts val="8"/>
              </a:spcAft>
              <a:buNone/>
              <a:defRPr sz="1200">
                <a:solidFill>
                  <a:srgbClr val="1E293B"/>
                </a:solidFill>
              </a:defRPr>
            </a:pPr>
            <a:r>
              <a:rPr sz="1200">
                <a:solidFill>
                  <a:srgbClr val="1E293B"/>
                </a:solidFill>
              </a:rPr>
              <a:t>说明信号远小于噪声底，不能声称 1 ps、5 ps 可分辨。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c5f9d4626248c8"/>
          <a:stretch xmlns:a="http://schemas.openxmlformats.org/drawingml/2006/main"/>
        </p:blipFill>
        <p:spPr>
          <a:xfrm xmlns:a="http://schemas.openxmlformats.org/drawingml/2006/main">
            <a:off x="5334000" y="1538654"/>
            <a:ext cx="6286500" cy="435219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2296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371F30C-FFC7-4643-907B-7B1C9DFC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幅度扫描：0.001 单位可分辨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F16DCBF-1618-4DFC-B135-8A10DBF0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4381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marL="18" indent="-10">
              <a:lnSpc>
                <a:spcPct val="112000"/>
              </a:lnSpc>
              <a:spcAft>
                <a:spcPts val="8"/>
              </a:spcAft>
              <a:buNone/>
              <a:defRPr sz="1200">
                <a:solidFill>
                  <a:srgbClr val="1E293B"/>
                </a:solidFill>
              </a:defRPr>
            </a:pPr>
            <a:r>
              <a:rPr sz="1200">
                <a:solidFill>
                  <a:srgbClr val="1E293B"/>
                </a:solidFill>
              </a:rPr>
              <a:t>扫描变量 q0ampback（无量纲），基准 0.35。</a:t>
            </a:r>
          </a:p>
          <a:p xmlns:a="http://schemas.openxmlformats.org/drawingml/2006/main">
            <a:pPr marL="18" indent="-10">
              <a:lnSpc>
                <a:spcPct val="112000"/>
              </a:lnSpc>
              <a:spcAft>
                <a:spcPts val="8"/>
              </a:spcAft>
              <a:buNone/>
              <a:defRPr sz="1200">
                <a:solidFill>
                  <a:srgbClr val="1E293B"/>
                </a:solidFill>
              </a:defRPr>
            </a:pPr>
            <a:r>
              <a:rPr sz="1200">
                <a:solidFill>
                  <a:srgbClr val="1E293B"/>
                </a:solidFill>
              </a:rPr>
              <a:t>左下是实测幅度增益对命令幅度变化，斜率约 2.4。</a:t>
            </a:r>
          </a:p>
          <a:p xmlns:a="http://schemas.openxmlformats.org/drawingml/2006/main">
            <a:pPr marL="18" indent="-10">
              <a:lnSpc>
                <a:spcPct val="112000"/>
              </a:lnSpc>
              <a:spcAft>
                <a:spcPts val="8"/>
              </a:spcAft>
              <a:buNone/>
              <a:defRPr sz="1200">
                <a:solidFill>
                  <a:srgbClr val="1E293B"/>
                </a:solidFill>
              </a:defRPr>
            </a:pPr>
            <a:r>
              <a:rPr sz="1200">
                <a:solidFill>
                  <a:srgbClr val="1E293B"/>
                </a:solidFill>
              </a:rPr>
              <a:t>0.01、0.005、0.001 可分辨；0.0005、0.0001 不可分辨。</a:t>
            </a:r>
          </a:p>
          <a:p xmlns:a="http://schemas.openxmlformats.org/drawingml/2006/main">
            <a:pPr marL="18" indent="-10">
              <a:lnSpc>
                <a:spcPct val="112000"/>
              </a:lnSpc>
              <a:spcAft>
                <a:spcPts val="8"/>
              </a:spcAft>
              <a:buNone/>
              <a:defRPr sz="1200">
                <a:solidFill>
                  <a:srgbClr val="1E293B"/>
                </a:solidFill>
              </a:defRPr>
            </a:pPr>
            <a:r>
              <a:rPr sz="1200">
                <a:solidFill>
                  <a:srgbClr val="1E293B"/>
                </a:solidFill>
              </a:rPr>
              <a:t>说明幅度响应线性，分辨率下限约 0.001 单位。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2f4556b9cf4983"/>
          <a:stretch xmlns:a="http://schemas.openxmlformats.org/drawingml/2006/main"/>
        </p:blipFill>
        <p:spPr>
          <a:xfrm xmlns:a="http://schemas.openxmlformats.org/drawingml/2006/main">
            <a:off x="5334000" y="1538654"/>
            <a:ext cx="6286500" cy="435219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5863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E04DDAE-4BAF-4F26-B687-F18CCAE9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密集时间响应：整体斜率约 1.001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925D2AC-B0C0-4331-9622-36BC8E071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4381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marL="18" indent="-10">
              <a:lnSpc>
                <a:spcPct val="112000"/>
              </a:lnSpc>
              <a:spcAft>
                <a:spcPts val="8"/>
              </a:spcAft>
              <a:buNone/>
              <a:defRPr sz="1200">
                <a:solidFill>
                  <a:srgbClr val="1E293B"/>
                </a:solidFill>
              </a:defRPr>
            </a:pPr>
            <a:r>
              <a:rPr sz="1200">
                <a:solidFill>
                  <a:srgbClr val="1E293B"/>
                </a:solidFill>
              </a:rPr>
              <a:t>0、±2、±4、…、±120 ps，共 121 点，每点 140 发。</a:t>
            </a:r>
          </a:p>
          <a:p xmlns:a="http://schemas.openxmlformats.org/drawingml/2006/main">
            <a:pPr marL="18" indent="-10">
              <a:lnSpc>
                <a:spcPct val="112000"/>
              </a:lnSpc>
              <a:spcAft>
                <a:spcPts val="8"/>
              </a:spcAft>
              <a:buNone/>
              <a:defRPr sz="1200">
                <a:solidFill>
                  <a:srgbClr val="1E293B"/>
                </a:solidFill>
              </a:defRPr>
            </a:pPr>
            <a:r>
              <a:rPr sz="1200">
                <a:solidFill>
                  <a:srgbClr val="1E293B"/>
                </a:solidFill>
              </a:rPr>
              <a:t>斜率 1.001，截距 1.4 ps，残差 RMS 7.8 ps。</a:t>
            </a:r>
          </a:p>
          <a:p xmlns:a="http://schemas.openxmlformats.org/drawingml/2006/main">
            <a:pPr marL="18" indent="-10">
              <a:lnSpc>
                <a:spcPct val="112000"/>
              </a:lnSpc>
              <a:spcAft>
                <a:spcPts val="8"/>
              </a:spcAft>
              <a:buNone/>
              <a:defRPr sz="1200">
                <a:solidFill>
                  <a:srgbClr val="1E293B"/>
                </a:solidFill>
              </a:defRPr>
            </a:pPr>
            <a:r>
              <a:rPr sz="1200">
                <a:solidFill>
                  <a:srgbClr val="1E293B"/>
                </a:solidFill>
              </a:rPr>
              <a:t>平均意义下，命令移多少就真实移多少。</a:t>
            </a:r>
          </a:p>
          <a:p xmlns:a="http://schemas.openxmlformats.org/drawingml/2006/main">
            <a:pPr marL="18" indent="-10">
              <a:lnSpc>
                <a:spcPct val="112000"/>
              </a:lnSpc>
              <a:spcAft>
                <a:spcPts val="8"/>
              </a:spcAft>
              <a:buNone/>
              <a:defRPr sz="1200">
                <a:solidFill>
                  <a:srgbClr val="1E293B"/>
                </a:solidFill>
              </a:defRPr>
            </a:pPr>
            <a:r>
              <a:rPr sz="1200">
                <a:solidFill>
                  <a:srgbClr val="1E293B"/>
                </a:solidFill>
              </a:rPr>
              <a:t>但单点仍有约 ±10 ps 的误差棒。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da0e15f1cf4036"/>
          <a:stretch xmlns:a="http://schemas.openxmlformats.org/drawingml/2006/main"/>
        </p:blipFill>
        <p:spPr>
          <a:xfrm xmlns:a="http://schemas.openxmlformats.org/drawingml/2006/main">
            <a:off x="5619750" y="952500"/>
            <a:ext cx="5715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9636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F679311-FED9-4CF8-8616-B0C49DEA5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多发平均的噪声地板约 6 ps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86C75AA-6C7C-4710-A5B7-868C8037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4381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marL="18" indent="-10">
              <a:lnSpc>
                <a:spcPct val="112000"/>
              </a:lnSpc>
              <a:spcAft>
                <a:spcPts val="8"/>
              </a:spcAft>
              <a:buNone/>
              <a:defRPr sz="1200">
                <a:solidFill>
                  <a:srgbClr val="1E293B"/>
                </a:solidFill>
              </a:defRPr>
            </a:pPr>
            <a:r>
              <a:rPr sz="1200">
                <a:solidFill>
                  <a:srgbClr val="1E293B"/>
                </a:solidFill>
              </a:rPr>
              <a:t>同一组点分别用 20、100、500、1000 发。</a:t>
            </a:r>
          </a:p>
          <a:p xmlns:a="http://schemas.openxmlformats.org/drawingml/2006/main">
            <a:pPr marL="18" indent="-10">
              <a:lnSpc>
                <a:spcPct val="112000"/>
              </a:lnSpc>
              <a:spcAft>
                <a:spcPts val="8"/>
              </a:spcAft>
              <a:buNone/>
              <a:defRPr sz="1200">
                <a:solidFill>
                  <a:srgbClr val="1E293B"/>
                </a:solidFill>
              </a:defRPr>
            </a:pPr>
            <a:r>
              <a:rPr sz="1200">
                <a:solidFill>
                  <a:srgbClr val="1E293B"/>
                </a:solidFill>
              </a:rPr>
              <a:t>95% 置信区间半宽：34.5 → 12.6 → 7.2 → 6.0 ps。</a:t>
            </a:r>
          </a:p>
          <a:p xmlns:a="http://schemas.openxmlformats.org/drawingml/2006/main">
            <a:pPr marL="18" indent="-10">
              <a:lnSpc>
                <a:spcPct val="112000"/>
              </a:lnSpc>
              <a:spcAft>
                <a:spcPts val="8"/>
              </a:spcAft>
              <a:buNone/>
              <a:defRPr sz="1200">
                <a:solidFill>
                  <a:srgbClr val="1E293B"/>
                </a:solidFill>
              </a:defRPr>
            </a:pPr>
            <a:r>
              <a:rPr sz="1200">
                <a:solidFill>
                  <a:srgbClr val="1E293B"/>
                </a:solidFill>
              </a:rPr>
              <a:t>500 发到 1000 发只从 7.2 降到 6.0，仍有约 6 ps 的平台。</a:t>
            </a:r>
          </a:p>
          <a:p xmlns:a="http://schemas.openxmlformats.org/drawingml/2006/main">
            <a:pPr marL="18" indent="-10">
              <a:lnSpc>
                <a:spcPct val="112000"/>
              </a:lnSpc>
              <a:spcAft>
                <a:spcPts val="8"/>
              </a:spcAft>
              <a:buNone/>
              <a:defRPr sz="1200">
                <a:solidFill>
                  <a:srgbClr val="1E293B"/>
                </a:solidFill>
              </a:defRPr>
            </a:pPr>
            <a:r>
              <a:rPr sz="1200">
                <a:solidFill>
                  <a:srgbClr val="1E293B"/>
                </a:solidFill>
              </a:rPr>
              <a:t>拟合 CI ∝ N^(−0.44)，接近纯随机噪声的 0.5。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b0680bc53f4762"/>
          <a:stretch xmlns:a="http://schemas.openxmlformats.org/drawingml/2006/main"/>
        </p:blipFill>
        <p:spPr>
          <a:xfrm xmlns:a="http://schemas.openxmlformats.org/drawingml/2006/main">
            <a:off x="5334000" y="1619250"/>
            <a:ext cx="6286500" cy="419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52825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268EC74-ED54-45B3-910C-D8B40E0A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不同发数下的响应曲线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E3D1C7E-67D9-4436-9035-EEF1763A4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4381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marL="18" indent="-10">
              <a:lnSpc>
                <a:spcPct val="112000"/>
              </a:lnSpc>
              <a:spcAft>
                <a:spcPts val="8"/>
              </a:spcAft>
              <a:buNone/>
              <a:defRPr sz="1200">
                <a:solidFill>
                  <a:srgbClr val="1E293B"/>
                </a:solidFill>
              </a:defRPr>
            </a:pPr>
            <a:r>
              <a:rPr sz="1200">
                <a:solidFill>
                  <a:srgbClr val="1E293B"/>
                </a:solidFill>
              </a:rPr>
              <a:t>直观看到误差棒随发数变小。</a:t>
            </a:r>
          </a:p>
          <a:p xmlns:a="http://schemas.openxmlformats.org/drawingml/2006/main">
            <a:pPr marL="18" indent="-10">
              <a:lnSpc>
                <a:spcPct val="112000"/>
              </a:lnSpc>
              <a:spcAft>
                <a:spcPts val="8"/>
              </a:spcAft>
              <a:buNone/>
              <a:defRPr sz="1200">
                <a:solidFill>
                  <a:srgbClr val="1E293B"/>
                </a:solidFill>
              </a:defRPr>
            </a:pPr>
            <a:r>
              <a:rPr sz="1200">
                <a:solidFill>
                  <a:srgbClr val="1E293B"/>
                </a:solidFill>
              </a:rPr>
              <a:t>500 发和 1000 发几乎重合，进入平台。</a:t>
            </a:r>
          </a:p>
          <a:p xmlns:a="http://schemas.openxmlformats.org/drawingml/2006/main">
            <a:pPr marL="18" indent="-10">
              <a:lnSpc>
                <a:spcPct val="112000"/>
              </a:lnSpc>
              <a:spcAft>
                <a:spcPts val="8"/>
              </a:spcAft>
              <a:buNone/>
              <a:defRPr sz="1200">
                <a:solidFill>
                  <a:srgbClr val="1E293B"/>
                </a:solidFill>
              </a:defRPr>
            </a:pPr>
            <a:r>
              <a:rPr sz="1200">
                <a:solidFill>
                  <a:srgbClr val="1E293B"/>
                </a:solidFill>
              </a:rPr>
              <a:t>响应本身始终贴近 1:1。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3fed7d2ac04972"/>
          <a:stretch xmlns:a="http://schemas.openxmlformats.org/drawingml/2006/main"/>
        </p:blipFill>
        <p:spPr>
          <a:xfrm xmlns:a="http://schemas.openxmlformats.org/drawingml/2006/main">
            <a:off x="5334000" y="1514475"/>
            <a:ext cx="6286500" cy="44005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83225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08FD7FC-A0B0-4883-8F77-39B02A351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已定位：平顶下垂是示波器线缆接触问题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646A7DA-1BEB-499D-A72D-70B7E551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4381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marL="18" indent="-10">
              <a:lnSpc>
                <a:spcPct val="112000"/>
              </a:lnSpc>
              <a:spcAft>
                <a:spcPts val="8"/>
              </a:spcAft>
              <a:buNone/>
              <a:defRPr sz="1200">
                <a:solidFill>
                  <a:srgbClr val="1E293B"/>
                </a:solidFill>
              </a:defRPr>
            </a:pPr>
            <a:r>
              <a:rPr sz="1200">
                <a:solidFill>
                  <a:srgbClr val="1E293B"/>
                </a:solidFill>
              </a:rPr>
              <a:t>修紧线缆后重采，7 个 batch 的平顶斜率全部回到约 0.04 mV/ns。</a:t>
            </a:r>
          </a:p>
          <a:p xmlns:a="http://schemas.openxmlformats.org/drawingml/2006/main">
            <a:pPr marL="18" indent="-10">
              <a:lnSpc>
                <a:spcPct val="112000"/>
              </a:lnSpc>
              <a:spcAft>
                <a:spcPts val="8"/>
              </a:spcAft>
              <a:buNone/>
              <a:defRPr sz="1200">
                <a:solidFill>
                  <a:srgbClr val="1E293B"/>
                </a:solidFill>
              </a:defRPr>
            </a:pPr>
            <a:r>
              <a:rPr sz="1200">
                <a:solidFill>
                  <a:srgbClr val="1E293B"/>
                </a:solidFill>
              </a:rPr>
              <a:t>之前 b、c 约 0.14 mV/ns 的下垂已经消失。</a:t>
            </a:r>
          </a:p>
          <a:p xmlns:a="http://schemas.openxmlformats.org/drawingml/2006/main">
            <a:pPr marL="18" indent="-10">
              <a:lnSpc>
                <a:spcPct val="112000"/>
              </a:lnSpc>
              <a:spcAft>
                <a:spcPts val="8"/>
              </a:spcAft>
              <a:buNone/>
              <a:defRPr sz="1200">
                <a:solidFill>
                  <a:srgbClr val="1E293B"/>
                </a:solidFill>
              </a:defRPr>
            </a:pPr>
            <a:r>
              <a:rPr sz="1200">
                <a:solidFill>
                  <a:srgbClr val="1E293B"/>
                </a:solidFill>
              </a:rPr>
              <a:t>0 点的数字 SRAM 在所有批次完全一致，证明不是数字端或时移问题。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11c310b9d74871"/>
          <a:stretch xmlns:a="http://schemas.openxmlformats.org/drawingml/2006/main"/>
        </p:blipFill>
        <p:spPr>
          <a:xfrm xmlns:a="http://schemas.openxmlformats.org/drawingml/2006/main">
            <a:off x="5334000" y="1968500"/>
            <a:ext cx="6286500" cy="349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20405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A4B069E-2D14-4FDA-BAFC-58BBE71B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目前能确定的结论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2374761-F1A0-44A1-8690-EEAB2426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4381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marL="18" indent="-10">
              <a:lnSpc>
                <a:spcPct val="112000"/>
              </a:lnSpc>
              <a:spcAft>
                <a:spcPts val="8"/>
              </a:spcAft>
              <a:buNone/>
              <a:defRPr sz="1200">
                <a:solidFill>
                  <a:srgbClr val="1E293B"/>
                </a:solidFill>
              </a:defRPr>
            </a:pPr>
            <a:r>
              <a:rPr sz="1200">
                <a:solidFill>
                  <a:srgbClr val="1E293B"/>
                </a:solidFill>
              </a:rPr>
              <a:t>时间响应的平均映射准确：斜率 ≈ 1.001，命令多少就移多少。</a:t>
            </a:r>
          </a:p>
          <a:p xmlns:a="http://schemas.openxmlformats.org/drawingml/2006/main">
            <a:pPr marL="18" indent="-10">
              <a:lnSpc>
                <a:spcPct val="112000"/>
              </a:lnSpc>
              <a:spcAft>
                <a:spcPts val="8"/>
              </a:spcAft>
              <a:buNone/>
              <a:defRPr sz="1200">
                <a:solidFill>
                  <a:srgbClr val="1E293B"/>
                </a:solidFill>
              </a:defRPr>
            </a:pPr>
            <a:r>
              <a:rPr sz="1200">
                <a:solidFill>
                  <a:srgbClr val="1E293B"/>
                </a:solidFill>
              </a:rPr>
              <a:t>单点时间精度地板约 6 ps，拟合指数 α≈0.44。</a:t>
            </a:r>
          </a:p>
          <a:p xmlns:a="http://schemas.openxmlformats.org/drawingml/2006/main">
            <a:pPr marL="18" indent="-10">
              <a:lnSpc>
                <a:spcPct val="112000"/>
              </a:lnSpc>
              <a:spcAft>
                <a:spcPts val="8"/>
              </a:spcAft>
              <a:buNone/>
              <a:defRPr sz="1200">
                <a:solidFill>
                  <a:srgbClr val="1E293B"/>
                </a:solidFill>
              </a:defRPr>
            </a:pPr>
            <a:r>
              <a:rPr sz="1200">
                <a:solidFill>
                  <a:srgbClr val="1E293B"/>
                </a:solidFill>
              </a:rPr>
              <a:t>1–5 ps 的个位数时移目前不能作为可靠分辨率。</a:t>
            </a:r>
          </a:p>
          <a:p xmlns:a="http://schemas.openxmlformats.org/drawingml/2006/main">
            <a:pPr marL="18" indent="-10">
              <a:lnSpc>
                <a:spcPct val="112000"/>
              </a:lnSpc>
              <a:spcAft>
                <a:spcPts val="8"/>
              </a:spcAft>
              <a:buNone/>
              <a:defRPr sz="1200">
                <a:solidFill>
                  <a:srgbClr val="1E293B"/>
                </a:solidFill>
              </a:defRPr>
            </a:pPr>
            <a:r>
              <a:rPr sz="1200">
                <a:solidFill>
                  <a:srgbClr val="1E293B"/>
                </a:solidFill>
              </a:rPr>
              <a:t>幅度响应线性良好，0.001 单位可分辨。</a:t>
            </a:r>
          </a:p>
          <a:p xmlns:a="http://schemas.openxmlformats.org/drawingml/2006/main">
            <a:pPr marL="18" indent="-10">
              <a:lnSpc>
                <a:spcPct val="112000"/>
              </a:lnSpc>
              <a:spcAft>
                <a:spcPts val="8"/>
              </a:spcAft>
              <a:buNone/>
              <a:defRPr sz="1200">
                <a:solidFill>
                  <a:srgbClr val="1E293B"/>
                </a:solidFill>
              </a:defRPr>
            </a:pPr>
            <a:r>
              <a:rPr sz="1200">
                <a:solidFill>
                  <a:srgbClr val="1E293B"/>
                </a:solidFill>
              </a:rPr>
              <a:t>平顶下垂已定位为示波器线缆接触问题，修紧后消除。</a:t>
            </a:r>
          </a:p>
        </p:txBody>
      </p:sp>
    </p:spTree>
    <p:extLst>
      <p:ext uri="{BB962C8B-B14F-4D97-AF65-F5344CB8AC3E}">
        <p14:creationId xmlns:p14="http://schemas.microsoft.com/office/powerpoint/2010/main" val="3234607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2026-08-17T12:51:29.2790000Z</dcterms:created>
  <dcterms:modified xsi:type="dcterms:W3CDTF">2026-08-17T12:51:29.2790000Z</dcterms:modified>
</coreProperties>
</file>