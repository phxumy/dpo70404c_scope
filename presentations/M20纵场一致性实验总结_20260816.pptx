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4f245fb4c64afc" /><Relationship Type="http://schemas.openxmlformats.org/officeDocument/2006/relationships/extended-properties" Target="/docProps/app.xml" Id="R1d9d3bba27ef4bfd" /><Relationship Type="http://schemas.openxmlformats.org/officeDocument/2006/relationships/officeDocument" Target="/ppt/presentation.xml" Id="R891688d2a05640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62166652744713"/>
  </p:sldMasterIdLst>
  <p:notesMasterIdLst>
    <p:notesMasterId xmlns:r="http://schemas.openxmlformats.org/officeDocument/2006/relationships" r:id="R342cbf7c00394dd1"/>
  </p:notesMasterIdLst>
  <p:sldIdLst>
    <p:sldId xmlns:r="http://schemas.openxmlformats.org/officeDocument/2006/relationships" id="256" r:id="R21df8d741cf54754"/>
    <p:sldId xmlns:r="http://schemas.openxmlformats.org/officeDocument/2006/relationships" id="257" r:id="R22ba358ff9ad4ca8"/>
    <p:sldId xmlns:r="http://schemas.openxmlformats.org/officeDocument/2006/relationships" id="258" r:id="R5bac109ffd7b4480"/>
    <p:sldId xmlns:r="http://schemas.openxmlformats.org/officeDocument/2006/relationships" id="259" r:id="R05a7cb3c7200487a"/>
    <p:sldId xmlns:r="http://schemas.openxmlformats.org/officeDocument/2006/relationships" id="260" r:id="R0a753f997f3e4f57"/>
    <p:sldId xmlns:r="http://schemas.openxmlformats.org/officeDocument/2006/relationships" id="261" r:id="R41132dee222446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64003c16df425a" /><Relationship Type="http://schemas.openxmlformats.org/officeDocument/2006/relationships/slideMaster" Target="/ppt/slideMasters/slideMaster1.xml" Id="Rbc62166652744713" /><Relationship Type="http://schemas.openxmlformats.org/officeDocument/2006/relationships/notesMaster" Target="/ppt/notesMasters/notesMaster1.xml" Id="R342cbf7c00394dd1" /><Relationship Type="http://schemas.openxmlformats.org/officeDocument/2006/relationships/presProps" Target="/ppt/presProps.xml" Id="R7bbc6c4080584935" /><Relationship Type="http://schemas.openxmlformats.org/officeDocument/2006/relationships/tableStyles" Target="/ppt/tableStyles.xml" Id="Rec4b334ae8b94578" /><Relationship Type="http://schemas.openxmlformats.org/officeDocument/2006/relationships/slide" Target="/ppt/slides/slide1.xml" Id="R21df8d741cf54754" /><Relationship Type="http://schemas.openxmlformats.org/officeDocument/2006/relationships/slide" Target="/ppt/slides/slide2.xml" Id="R22ba358ff9ad4ca8" /><Relationship Type="http://schemas.openxmlformats.org/officeDocument/2006/relationships/slide" Target="/ppt/slides/slide3.xml" Id="R5bac109ffd7b4480" /><Relationship Type="http://schemas.openxmlformats.org/officeDocument/2006/relationships/slide" Target="/ppt/slides/slide4.xml" Id="R05a7cb3c7200487a" /><Relationship Type="http://schemas.openxmlformats.org/officeDocument/2006/relationships/slide" Target="/ppt/slides/slide5.xml" Id="R0a753f997f3e4f57" /><Relationship Type="http://schemas.openxmlformats.org/officeDocument/2006/relationships/slide" Target="/ppt/slides/slide6.xml" Id="R41132dee222446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9710ee8f1244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8e058f42094bd6" /><Relationship Type="http://schemas.openxmlformats.org/officeDocument/2006/relationships/notesMaster" Target="/ppt/notesMasters/notesMaster1.xml" Id="R1a69ea9f23c440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45a0ae38af413b" /><Relationship Type="http://schemas.openxmlformats.org/officeDocument/2006/relationships/notesMaster" Target="/ppt/notesMasters/notesMaster1.xml" Id="R12eed9b7bd4246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70dbb334674c8c" /><Relationship Type="http://schemas.openxmlformats.org/officeDocument/2006/relationships/notesMaster" Target="/ppt/notesMasters/notesMaster1.xml" Id="R5adba35e7ad04e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ba8257209a4fea" /><Relationship Type="http://schemas.openxmlformats.org/officeDocument/2006/relationships/notesMaster" Target="/ppt/notesMasters/notesMaster1.xml" Id="R7a4beaa4de324c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624ef52b224c01" /><Relationship Type="http://schemas.openxmlformats.org/officeDocument/2006/relationships/notesMaster" Target="/ppt/notesMasters/notesMaster1.xml" Id="R1454f305f6f248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e44f5a20a645a7" /><Relationship Type="http://schemas.openxmlformats.org/officeDocument/2006/relationships/notesMaster" Target="/ppt/notesMasters/notesMaster1.xml" Id="R90d91a30d95348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本页概括实验范围：1个GateLen batch与3个timingLagMeas layer batch，共480个正式FastFrame帧。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D:\my_files\IOP_after_20250418\academic\CR_gate_new\20260711真实实验\connect_DPO70404C\scope_runs\formal-longitudinal-20260816_110341-79304963\batches\formal-longitudinal-20260816_110341-79304963-gatelen-L10-b01\attempt_001\capture_manifest.json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D:\my_files\IOP_after_20250418\academic\CR_gate_new\20260711真实实验\connect_DPO70404C\scope_runs\formal-longitudinal-20260816_130132-888a0be3\batches\formal-longitudinal-20260816_130132-888a0be3-timinglag-L01-b01\attempt_001\capture_manifest.json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D:\my_files\IOP_after_20250418\academic\CR_gate_new\20260711真实实验\connect_DPO70404C\scope_runs\formal-longitudinal-20260816_130132-888a0be3\batches\formal-longitudinal-20260816_130132-888a0be3-timinglag-L10-b02\attempt_001\capture_manifest.json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D:\my_files\IOP_after_20250418\academic\CR_gate_new\20260711真实实验\connect_DPO70404C\scope_runs\formal-longitudinal-20260816_130132-888a0be3\batches\formal-longitudinal-20260816_130132-888a0be3-timinglag-L20-b03\attempt_001\capture_manifest.json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图注：第10层GateLen扫描（30.0–30.5 ns，20 shots/点）。上图保留AUX固定参考下的绝对时序；下图仅按程序tFall中心和统一路径延迟对齐。目标tFall波形重合，无拟合时移。当前测量灵敏度内未分辨出gateLen/tbuffer相关形变。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D:\my_files\IOP_after_20250418\academic\CR_gate_new\20260711真实实验\connect_DPO70404C\scope_runs\formal-longitudinal-20260816_110341-79304963\batches\formal-longitudinal-20260816_110341-79304963-gatelen-L10-b01\attempt_001\plots\point_mean_overlays.png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D:\my_files\IOP_after_20250418\academic\CR_gate_new\20260711真实实验\connect_DPO70404C\scope_runs\formal-longitudinal-20260816_110341-79304963\batches\formal-longitudinal-20260816_110341-79304963-gatelen-L10-b01\attempt_001\capture_manifest.json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D:\my_files\IOP_after_20250418\academic\CR_gate_new\20260711真实实验\connect_DPO70404C\scope_runs\formal-longitudinal-20260816_110341-79304963\batches\formal-longitudinal-20260816_110341-79304963-gatelen-L10-b01\attempt_001\qc\qc_report.json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D:\my_files\IOP_after_20250418\academic\CR_gate_new\20260711真实实验\connect_DPO70404C\scope_runs\formal-longitudinal-20260816_110341-79304963\batches\formal-longitudinal-20260816_110341-79304963-gatelen-L10-b01\attempt_001\raw_frames.npy</a:t>
            </a:r>
          </a:p>
          <a:p xmlns:a="http://schemas.openxmlformats.org/drawingml/2006/main">
            <a:r>
              <a:t>- Local fixed-ROI analysis: tau=[-5,+5] ns; per-frame XZERO time reconstruction; no cross-correlation or free shift.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图注：Layer 1 timingLagMeas扫描（0.0–0.5 ns，20 shots/点）。上图在固定AUX参考下显示命令引起的整体时移；下图仅减去命令offset，六条均值高度重合，未使用互相关、自由时移或幅值缩放。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D:\my_files\IOP_after_20250418\academic\CR_gate_new\20260711真实实验\connect_DPO70404C\scope_runs\formal-longitudinal-20260816_130132-888a0be3\batches\formal-longitudinal-20260816_130132-888a0be3-timinglag-L01-b01\attempt_001\plots\point_mean_overlays.png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D:\my_files\IOP_after_20250418\academic\CR_gate_new\20260711真实实验\connect_DPO70404C\scope_runs\formal-longitudinal-20260816_130132-888a0be3\batches\formal-longitudinal-20260816_130132-888a0be3-timinglag-L01-b01\attempt_001\capture_manifest.json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D:\my_files\IOP_after_20250418\academic\CR_gate_new\20260711真实实验\connect_DPO70404C\scope_runs\formal-longitudinal-20260816_130132-888a0be3\batches\formal-longitudinal-20260816_130132-888a0be3-timinglag-L01-b01\attempt_001\qc\qc_report.json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D:\my_files\IOP_after_20250418\academic\CR_gate_new\20260711真实实验\connect_DPO70404C\scope_runs\formal-longitudinal-20260816_130132-888a0be3\batches\formal-longitudinal-20260816_130132-888a0be3-timinglag-L01-b01\attempt_001\raw_frames.npy</a:t>
            </a:r>
          </a:p>
          <a:p xmlns:a="http://schemas.openxmlformats.org/drawingml/2006/main">
            <a:r>
              <a:t>- Local fixed-feature timing analysis and active-region waveform comparison; measured feature was not used to align traces.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图注：Layer 10 timingLagMeas扫描（0.0–0.5 ns，20 shots/点）。上图在固定AUX参考下显示命令引起的整体时移；下图仅减去命令offset，六条均值高度重合，未使用互相关、自由时移或幅值缩放。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D:\my_files\IOP_after_20250418\academic\CR_gate_new\20260711真实实验\connect_DPO70404C\scope_runs\formal-longitudinal-20260816_130132-888a0be3\batches\formal-longitudinal-20260816_130132-888a0be3-timinglag-L10-b02\attempt_001\plots\point_mean_overlays.png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D:\my_files\IOP_after_20250418\academic\CR_gate_new\20260711真实实验\connect_DPO70404C\scope_runs\formal-longitudinal-20260816_130132-888a0be3\batches\formal-longitudinal-20260816_130132-888a0be3-timinglag-L10-b02\attempt_001\capture_manifest.json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D:\my_files\IOP_after_20250418\academic\CR_gate_new\20260711真实实验\connect_DPO70404C\scope_runs\formal-longitudinal-20260816_130132-888a0be3\batches\formal-longitudinal-20260816_130132-888a0be3-timinglag-L10-b02\attempt_001\qc\qc_report.json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D:\my_files\IOP_after_20250418\academic\CR_gate_new\20260711真实实验\connect_DPO70404C\scope_runs\formal-longitudinal-20260816_130132-888a0be3\batches\formal-longitudinal-20260816_130132-888a0be3-timinglag-L10-b02\attempt_001\raw_frames.npy</a:t>
            </a:r>
          </a:p>
          <a:p xmlns:a="http://schemas.openxmlformats.org/drawingml/2006/main">
            <a:r>
              <a:t>- Local fixed-feature timing analysis and active-region waveform comparison; measured feature was not used to align traces.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图注：Layer 20 timingLagMeas扫描（0.0–0.5 ns，20 shots/点）。上图在固定AUX参考下显示命令引起的整体时移；下图仅减去命令offset，六条均值高度重合，未使用互相关、自由时移或幅值缩放。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D:\my_files\IOP_after_20250418\academic\CR_gate_new\20260711真实实验\connect_DPO70404C\scope_runs\formal-longitudinal-20260816_130132-888a0be3\batches\formal-longitudinal-20260816_130132-888a0be3-timinglag-L20-b03\attempt_001\plots\point_mean_overlays.png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D:\my_files\IOP_after_20250418\academic\CR_gate_new\20260711真实实验\connect_DPO70404C\scope_runs\formal-longitudinal-20260816_130132-888a0be3\batches\formal-longitudinal-20260816_130132-888a0be3-timinglag-L20-b03\attempt_001\capture_manifest.json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D:\my_files\IOP_after_20250418\academic\CR_gate_new\20260711真实实验\connect_DPO70404C\scope_runs\formal-longitudinal-20260816_130132-888a0be3\batches\formal-longitudinal-20260816_130132-888a0be3-timinglag-L20-b03\attempt_001\qc\qc_report.json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D:\my_files\IOP_after_20250418\academic\CR_gate_new\20260711真实实验\connect_DPO70404C\scope_runs\formal-longitudinal-20260816_130132-888a0be3\batches\formal-longitudinal-20260816_130132-888a0be3-timinglag-L20-b03\attempt_001\raw_frames.npy</a:t>
            </a:r>
          </a:p>
          <a:p xmlns:a="http://schemas.openxmlformats.org/drawingml/2006/main">
            <a:r>
              <a:t>- Local fixed-feature timing analysis and active-region waveform comparison; measured feature was not used to align traces.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综合结论：GateLen/tbuffer扫描未分辨出target-layer tFall形变；timingLagMeas在L1、L10、L20实现了与命令值相符的整体平移，扣除命令量后波形重合到约0.2 mV。示波器侧QC通过，但正式档案仍需AWG执行日志闭环。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D:\my_files\IOP_after_20250418\academic\CR_gate_new\20260711真实实验\connect_DPO70404C\scope_runs\formal-longitudinal-20260816_110341-79304963\batches\formal-longitudinal-20260816_110341-79304963-gatelen-L10-b01\attempt_001\capture_manifest.json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D:\my_files\IOP_after_20250418\academic\CR_gate_new\20260711真实实验\connect_DPO70404C\scope_runs\formal-longitudinal-20260816_130132-888a0be3\batches\formal-longitudinal-20260816_130132-888a0be3-timinglag-L01-b01\attempt_001\capture_manifest.json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D:\my_files\IOP_after_20250418\academic\CR_gate_new\20260711真实实验\connect_DPO70404C\scope_runs\formal-longitudinal-20260816_130132-888a0be3\batches\formal-longitudinal-20260816_130132-888a0be3-timinglag-L10-b02\attempt_001\capture_manifest.json</a:t>
            </a:r>
          </a:p>
          <a:p xmlns:a="http://schemas.openxmlformats.org/drawingml/2006/main">
            <a:r>
              <a:t>- D:\my_files\IOP_after_20250418\academic\CR_gate_new\20260711真实实验\connect_DPO70404C\scope_runs\formal-longitudinal-20260816_130132-888a0be3\batches\formal-longitudinal-20260816_130132-888a0be3-timinglag-L20-b03\attempt_001\capture_manifest.json</a:t>
            </a:r>
          </a:p>
          <a:p xmlns:a="http://schemas.openxmlformats.org/drawingml/2006/main">
            <a:r>
              <a:t>- Local quantitative analyses of formal raw FastFrame data; no cross-correlation or per-trace free shift.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59415c0bd48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5634bd0cec4a75" /><Relationship Type="http://schemas.openxmlformats.org/officeDocument/2006/relationships/slideLayout" Target="/ppt/slideLayouts/slideLayout1.xml" Id="R1516a22a6e7543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16a22a6e7543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709ceded44c5e" /><Relationship Type="http://schemas.openxmlformats.org/officeDocument/2006/relationships/notesSlide" Target="/ppt/notesSlides/notesSlide1.xml" Id="R78c4753da1bc46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86b0f4e434dfb" /><Relationship Type="http://schemas.openxmlformats.org/officeDocument/2006/relationships/image" Target="/ppt/media/image.png" Id="Rf6b1ec24cab041ae" /><Relationship Type="http://schemas.openxmlformats.org/officeDocument/2006/relationships/notesSlide" Target="/ppt/notesSlides/notesSlide2.xml" Id="R1279d70dca654b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240ac26484c96" /><Relationship Type="http://schemas.openxmlformats.org/officeDocument/2006/relationships/image" Target="/ppt/media/image2.png" Id="R8565ac241c254f0a" /><Relationship Type="http://schemas.openxmlformats.org/officeDocument/2006/relationships/notesSlide" Target="/ppt/notesSlides/notesSlide3.xml" Id="R2ef41dfd41be4a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c4c7855164e6c" /><Relationship Type="http://schemas.openxmlformats.org/officeDocument/2006/relationships/image" Target="/ppt/media/image3.png" Id="R5252ce6fff064706" /><Relationship Type="http://schemas.openxmlformats.org/officeDocument/2006/relationships/notesSlide" Target="/ppt/notesSlides/notesSlide4.xml" Id="Re139277efccd4f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55a2cc52b4e26" /><Relationship Type="http://schemas.openxmlformats.org/officeDocument/2006/relationships/image" Target="/ppt/media/image4.png" Id="R0e74baa6566a49b7" /><Relationship Type="http://schemas.openxmlformats.org/officeDocument/2006/relationships/notesSlide" Target="/ppt/notesSlides/notesSlide5.xml" Id="Rb6cf1c23012d45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6063cb53948e8" /><Relationship Type="http://schemas.openxmlformats.org/officeDocument/2006/relationships/notesSlide" Target="/ppt/notesSlides/notesSlide6.xml" Id="R7fe4909892e343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63795-27E7-4A8E-916C-DB14CFEC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spc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spc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SUPERCONDUCTING QUBIT CONTROL / 2026-08-16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FA094-6572-4D49-A961-E1C02C53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 = 20</a:t>
            </a:r>
          </a:p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纵场一致性验证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3413E-3895-47D0-AEC8-F2BC0332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GateLen / tbuffer 补偿与 timingLagMeas 扫描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5F7DD-9870-4427-AC76-75A25085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85725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B0B37-A35B-4388-8FFD-B85647A6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1811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ED121-23FA-43EC-8558-9F608C12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14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formal batches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E6AA4-BC39-4332-BC70-391924A7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480 frames</a:t>
            </a:r>
          </a:p>
          <a:p xmlns:a="http://schemas.openxmlformats.org/drawingml/2006/main">
            <a:pPr algn="ctr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6 points × 20 shots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E5624-726A-43FF-8128-E0B0CB6E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CE29A-F5A0-4B3F-A140-FD4C2E91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DPO70404C FastFrame · 25 GS/s · 40 ps/sample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2FAA6-DD04-485C-A9DE-DF2C59A1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只采用程序定义的时间校正；未做互相关或自由时移</a:t>
            </a:r>
          </a:p>
        </p:txBody>
      </p:sp>
    </p:spTree>
    <p:extLst>
      <p:ext uri="{BB962C8B-B14F-4D97-AF65-F5344CB8AC3E}">
        <p14:creationId xmlns:p14="http://schemas.microsoft.com/office/powerpoint/2010/main" val="9334694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0FE67-C193-4773-A643-9379B168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22FE4-D74D-431B-9ADA-39B0DA6C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GateLen 补偿后，第10层 tFall 未见可分辨形变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5CA9E-DF1C-40F1-ACCA-141E2CA9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30.0–30.5 ns · 6 points × 20 shots · tbuffer 补至 0.5 ns 网格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66CBB-D9A6-4766-A889-F03C7FA4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4983F-835E-48EC-A018-A8E04EF9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57275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61F42-3F3C-4E1A-B96E-AF7C83A5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09675"/>
            <a:ext cx="77724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1ec24cab041ae"/>
          <a:stretch xmlns:a="http://schemas.openxmlformats.org/drawingml/2006/main"/>
        </p:blipFill>
        <p:spPr>
          <a:xfrm xmlns:a="http://schemas.openxmlformats.org/drawingml/2006/main">
            <a:off x="381000" y="1260475"/>
            <a:ext cx="7677150" cy="5118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79746-3A70-4A41-80B0-366B9D93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257300"/>
            <a:ext cx="33623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A8C32-44CE-4B2B-B8E1-317C2479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00175"/>
            <a:ext cx="3019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两幅子图怎么读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71EA5-238D-4FBD-835C-4D0B35FB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24025"/>
            <a:ext cx="30194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上图：以固定 AUX 为零点，保留各参数点真实的绝对时序。</a:t>
            </a:r>
          </a:p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下图：只减程序 tFall 中心和同一个 10.2167 ns 路径延迟。</a:t>
            </a:r>
          </a:p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中央目标 tFall 完整重合；没有对每条曲线自由找位移。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BB690-25F7-4E25-89C5-A0E4F41E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336232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F4023-3398-406B-8FDB-14FE1C29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3019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0.268 mV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32C22-DA0B-4431-ACC1-809D32DC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3019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两两 point-mean RMS 中位数 · 0.31% P–P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4AAB8-F7A4-4C82-9D44-D86BFC27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48150"/>
            <a:ext cx="336232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83354-1A70-4440-B71A-5E3C75E5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91025"/>
            <a:ext cx="3019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实验结论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29E37-5FB6-46E8-BD8A-7DABC29C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30194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最差均值 RMS 0.467 mV（0.54% P–P）。</a:t>
            </a:r>
          </a:p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差异低于单发重复性 1.44–1.70 mV RMS。</a:t>
            </a:r>
          </a:p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当前灵敏度内未观察到 gateLen/tbuffer 相关形变。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34C09-8499-437A-9305-A6AF8523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962650"/>
            <a:ext cx="3362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81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B8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B86B00"/>
                </a:solidFill>
                <a:latin typeface="Microsoft YaHei"/>
                <a:ea typeface="Microsoft YaHei"/>
                <a:cs typeface="Microsoft YaHei"/>
              </a:rPr>
              <a:t>注：40 ns窗边缘截断了部分邻近振铃；中央目标完整，且不是ADC剪切。</a:t>
            </a:r>
          </a:p>
        </p:txBody>
      </p:sp>
    </p:spTree>
    <p:extLst>
      <p:ext uri="{BB962C8B-B14F-4D97-AF65-F5344CB8AC3E}">
        <p14:creationId xmlns:p14="http://schemas.microsoft.com/office/powerpoint/2010/main" val="1123692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65D4A-E08D-424B-BBFF-91D85B2D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C3D6C-EC48-4CC6-BC4D-07AF90A3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Layer 1：0.1 ns timingLag 步进实现近似一比一平移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E84C9-61EA-49C7-A084-EC5A1018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0.0–0.5 ns · 6 points × 20 shots · 固定 AUX marker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A4B7D-1A4B-4286-A8FA-A8690F69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D777A-4124-49BA-BCED-153CF764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57275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A804B-8148-460D-9FBA-ED7D702B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209675"/>
            <a:ext cx="8001000" cy="536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5ac241c254f0a"/>
          <a:stretch xmlns:a="http://schemas.openxmlformats.org/drawingml/2006/main"/>
        </p:blipFill>
        <p:spPr>
          <a:xfrm xmlns:a="http://schemas.openxmlformats.org/drawingml/2006/main">
            <a:off x="3860006" y="1257300"/>
            <a:ext cx="7900988" cy="52673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1C6B2-75F8-428A-8C34-347E9BC6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3190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A6095-D8E2-41F5-9DCB-F721D60E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2847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两幅子图怎么读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82540-8E41-4431-AEA7-A8137C00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28479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上图：AUX直接对齐，六条均值按0.1 ns命令步长整体右移。</a:t>
            </a:r>
          </a:p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下图：只减命令 timingLagMeas；不做互相关或自由拟合。</a:t>
            </a:r>
          </a:p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扣除命令量后，峰谷和振铃结构高度重合。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6CC16-2226-4AE9-A83F-1349A894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81350"/>
            <a:ext cx="319087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7FFE2-3F82-4C71-A69B-D1C46326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24225"/>
            <a:ext cx="2847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1.0037 ± 0.0269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C0B08-8F25-4D55-9774-35C5A0C0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测得时移斜率（ns/ns）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E865C-F1AA-484F-A429-66B7B332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05300"/>
            <a:ext cx="319087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solidFill>
              <a:srgbClr val="EAF8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177EB-7F8A-44B8-ABE2-A4D612E9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48175"/>
            <a:ext cx="2847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rPr>
              <a:t>0.219 mV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34ED6-7F33-489C-88D1-7A65EF60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校正后活动区形状 RMS · 0.25% P–P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50012-43C1-4650-B11B-861AE404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3038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20-shot mean P–P：86.215 mV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结论：命令时移被实现，波形形状稳定。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F4507-6DC3-4ED8-ABC5-492AC52E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3038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rPr>
              <a:t>120/120 frames · Scope QC PASS · no clipping</a:t>
            </a:r>
          </a:p>
        </p:txBody>
      </p:sp>
    </p:spTree>
    <p:extLst>
      <p:ext uri="{BB962C8B-B14F-4D97-AF65-F5344CB8AC3E}">
        <p14:creationId xmlns:p14="http://schemas.microsoft.com/office/powerpoint/2010/main" val="922789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0EED62-CC3A-4582-8432-D897F9A6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36AD0-167F-4842-AA5A-011F620D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Layer 10：命令时移扣除后，纵场形状保持稳定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8B47D-ABCA-4F40-A724-13C44850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0.0–0.5 ns · 6 points × 20 shots · 序列中间层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B3CBE-882D-4C7F-A113-8A6A6B54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30D47-866E-4107-8C14-0A31B115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57275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545AC-33B2-425F-8DC8-FDA3AFE6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209675"/>
            <a:ext cx="8001000" cy="536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2ce6fff064706"/>
          <a:stretch xmlns:a="http://schemas.openxmlformats.org/drawingml/2006/main"/>
        </p:blipFill>
        <p:spPr>
          <a:xfrm xmlns:a="http://schemas.openxmlformats.org/drawingml/2006/main">
            <a:off x="383381" y="1257300"/>
            <a:ext cx="7900988" cy="52673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48523-9A2E-4322-8093-C6C18E64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57300"/>
            <a:ext cx="3190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497A7-B0D0-4B1C-A0D9-8BACE7E7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400175"/>
            <a:ext cx="2847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两幅子图怎么读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B1E8D-86A4-4FB9-8688-F8B8AFC9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24025"/>
            <a:ext cx="28479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上图：AUX直接对齐，六条均值按0.1 ns命令步长整体右移。</a:t>
            </a:r>
          </a:p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下图：只减命令 timingLagMeas；不做互相关或自由拟合。</a:t>
            </a:r>
          </a:p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扣除命令量后，峰谷和振铃结构高度重合。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EAE37-F8D9-4A33-9568-0880DE1E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319087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D6127-ADBD-447B-B5D2-B6C2D7A3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24225"/>
            <a:ext cx="2847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0.9857 ± 0.0112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3BE9D-E04E-4C92-AFFF-BC3D607D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7190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测得时移斜率（ns/ns）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DAF93-3DD5-4E1E-86A4-A4CA1E27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319087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solidFill>
              <a:srgbClr val="EAF8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4B531-A4B6-43F1-A129-54D47920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48175"/>
            <a:ext cx="2847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rPr>
              <a:t>0.188 mV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52162-47D4-4E04-95D8-F48EDAAD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9585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校正后活动区形状 RMS · 0.22% P–P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2D26E-2B8F-4013-931F-AB9F3BBD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505450"/>
            <a:ext cx="3038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20-shot mean P–P：86.259 mV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结论：命令时移被实现，波形形状稳定。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F63933-9383-4FEC-BFAF-091B7F12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191250"/>
            <a:ext cx="3038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rPr>
              <a:t>120/120 frames · Scope QC PASS · no clipping</a:t>
            </a:r>
          </a:p>
        </p:txBody>
      </p:sp>
    </p:spTree>
    <p:extLst>
      <p:ext uri="{BB962C8B-B14F-4D97-AF65-F5344CB8AC3E}">
        <p14:creationId xmlns:p14="http://schemas.microsoft.com/office/powerpoint/2010/main" val="1521012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FADEA-524B-4A96-B8B2-ED817882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78ADF-052D-41D0-826B-A40A40A5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Layer 20：完整序列末层仍保持波形一致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8B293-66DB-45E1-AC96-AA2429E0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0.0–0.5 ns · 6 points × 20 shots · 序列末层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8F3C1-59D6-4A60-A928-B3EB42C6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B4CB2-BC43-4F0B-B49A-DDFF81DA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57275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E6551-2AD5-4AAD-BE9B-0806A01F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209675"/>
            <a:ext cx="8001000" cy="536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4baa6566a49b7"/>
          <a:stretch xmlns:a="http://schemas.openxmlformats.org/drawingml/2006/main"/>
        </p:blipFill>
        <p:spPr>
          <a:xfrm xmlns:a="http://schemas.openxmlformats.org/drawingml/2006/main">
            <a:off x="3860006" y="1257300"/>
            <a:ext cx="7900988" cy="52673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9283E-22A2-4A37-A540-6233C60C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3190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2DBA3-2BAC-48C9-BB75-9B472260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0175"/>
            <a:ext cx="2847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两幅子图怎么读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552AE-9F4C-4F43-B45F-A31080A2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28479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上图：AUX直接对齐，六条均值按0.1 ns命令步长整体右移。</a:t>
            </a:r>
          </a:p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下图：只减命令 timingLagMeas；不做互相关或自由拟合。</a:t>
            </a:r>
          </a:p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扣除命令量后，峰谷和振铃结构高度重合。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ACA01-08EE-40C0-85D6-BB1547B6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81350"/>
            <a:ext cx="319087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3F325-0FAB-4CC7-AC5A-6B88BC22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24225"/>
            <a:ext cx="2847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0.9803 ± 0.0193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F6120-B426-487F-9078-3D8B457B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测得时移斜率（ns/ns）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7A2FD-7A5E-4A28-8F4C-92887072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05300"/>
            <a:ext cx="3190875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0">
            <a:solidFill>
              <a:srgbClr val="EAF8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25AFE-DADE-4D7D-90DC-77B72712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48175"/>
            <a:ext cx="2847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rPr>
              <a:t>0.181 mV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A4BAB-E5F6-4968-A745-687673BB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2847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校正后活动区形状 RMS · 0.21% P–P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4D17C-52C7-41BA-B5DB-B04A018C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3038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20-shot mean P–P：85.893 mV</a:t>
            </a:r>
          </a:p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结论：命令时移被实现，波形形状稳定。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20C11-A637-4CE5-AC80-D050E1ED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3038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rPr>
              <a:t>120/120 frames · Scope QC PASS · no clipping</a:t>
            </a:r>
          </a:p>
        </p:txBody>
      </p:sp>
    </p:spTree>
    <p:extLst>
      <p:ext uri="{BB962C8B-B14F-4D97-AF65-F5344CB8AC3E}">
        <p14:creationId xmlns:p14="http://schemas.microsoft.com/office/powerpoint/2010/main" val="1005228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2C737-A39D-48D7-81A7-C2DD56DF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666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F8C71-AAB0-44CC-9B7F-945F440B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结论：时序控制和纵场波形均达到亚百分比一致性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CA06C-ABF9-4F24-A28A-BC49CE4C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10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正式数据：GateLen L10 + timingLagMeas L1/L10/L20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E26A9-42BC-4E49-B2D1-4DBCF0F5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91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A849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F1F09-42A5-405A-AD86-C5C62607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57275"/>
            <a:ext cx="1138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4B448-17B3-4BF2-A153-A4074F6A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spc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spc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KEY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52053-3833-4CE8-8140-25279F3C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245D3-9263-4155-AA6A-56E741EA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0.268 mV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E3E35-3308-43EF-B7F1-E0E18A01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GateLen point-mean RMS中位数</a:t>
            </a:r>
          </a:p>
          <a:p xmlns:a="http://schemas.openxmlformats.org/drawingml/2006/main">
            <a:pPr algn="l"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= 0.31% P–P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15EC8-554D-4E19-8E2A-180C1A00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3355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4723B-AFE5-440E-BF61-C05A6D53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0.990 ± 0.011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320A1-31E7-47F2-B0ED-2EBD0C28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三层共同 timingLag 斜率</a:t>
            </a:r>
          </a:p>
          <a:p xmlns:a="http://schemas.openxmlformats.org/drawingml/2006/main">
            <a:pPr algn="l"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95% CI 包含理想值1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3309A-E3D1-4996-A4E0-FA4A0B4E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33550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65194-2C87-4D5C-AD1E-39CCA846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480 / 480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A9B01-1B8F-48A7-BA6A-355DCC38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正式FastFrame全部采得</a:t>
            </a:r>
          </a:p>
          <a:p xmlns:a="http://schemas.openxmlformats.org/drawingml/2006/main">
            <a:pPr algn="l">
              <a:def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无剪切、无覆盖失败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3165F-8E0A-4431-8D69-7C5C5C6B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70675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F9523-40FE-405D-9FD5-BF698CF9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672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三个实验共同说明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1B1D7-D11D-4980-A589-74A415F7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67246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tbuffer补偿后，30.0–30.5 ns gateLen未产生可分辨的target-layer tFall依赖。</a:t>
            </a:r>
          </a:p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timingLagMeas使纵场相对固定AUX marker按命令量近似一比一平移。</a:t>
            </a:r>
          </a:p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只扣命令时移后，L1/L10/L20残差约0.18–0.22 mV（0.21–0.25% P–P）。</a:t>
            </a:r>
          </a:p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• 结论来自程序定义对齐；没有使用数据驱动的自由shift掩盖真实差异。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619A6-9EC3-4BAF-9CF4-951ED5E8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36576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solidFill>
              <a:srgbClr val="FFF7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D055E-093B-4808-8E79-F06555B2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6B00"/>
                </a:solidFill>
                <a:latin typeface="Microsoft YaHei"/>
                <a:ea typeface="Microsoft YaHei"/>
                <a:cs typeface="Microsoft YaHei"/>
              </a:rPr>
              <a:t>保留项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F168B-C25D-4A69-9E60-CF2832DB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33875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示波器侧帧计数、采样率、目标覆盖和剪切QC均通过。最终归档仍需导入AWG execution log，以闭环验证frame ↔ point映射。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B37AF2-0099-4F6A-B1A2-55EF0D17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150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45BE02-B1E3-4166-88A2-BA2C69D9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1108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E8A66"/>
                </a:solidFill>
                <a:latin typeface="Microsoft YaHei"/>
                <a:ea typeface="Microsoft YaHei"/>
                <a:cs typeface="Microsoft YaHei"/>
              </a:rPr>
              <a:t>在当前测量灵敏度内，正式纵场一致性验证通过。</a:t>
            </a:r>
          </a:p>
        </p:txBody>
      </p:sp>
    </p:spTree>
    <p:extLst>
      <p:ext uri="{BB962C8B-B14F-4D97-AF65-F5344CB8AC3E}">
        <p14:creationId xmlns:p14="http://schemas.microsoft.com/office/powerpoint/2010/main" val="944356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2026-08-16T06:11:36.5340000Z</dcterms:created>
  <dcterms:modified xsi:type="dcterms:W3CDTF">2026-08-16T06:11:36.5340000Z</dcterms:modified>
</coreProperties>
</file>